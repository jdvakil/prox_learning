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4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51"/>
    <p:sldId id="257" r:id="rId52"/>
    <p:sldId id="258" r:id="rId53"/>
  </p:sldIdLst>
  <p:sldSz cx="11040000" cy="4560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51" Type="http://schemas.openxmlformats.org/officeDocument/2006/relationships/slide" Target="slides/slide1.xml" /><ns0:Relationship Id="rId52" Type="http://schemas.openxmlformats.org/officeDocument/2006/relationships/slide" Target="slides/slide2.xml" /><ns0:Relationship Id="rId53" Type="http://schemas.openxmlformats.org/officeDocument/2006/relationships/slide" Target="slides/slide3.xml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diagram_1_3.png" /><ns0:Relationship Id="rId12" Type="http://schemas.openxmlformats.org/officeDocument/2006/relationships/image" Target="../media/diagram_1_12.png" /><ns0:Relationship Id="rId13" Type="http://schemas.openxmlformats.org/officeDocument/2006/relationships/image" Target="../media/diagram_1_13.png" /><ns0:Relationship Id="rId14" Type="http://schemas.openxmlformats.org/officeDocument/2006/relationships/image" Target="../media/diagram_1_14.pn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diagram_3_2.png" /><ns0:Relationship Id="rId7" Type="http://schemas.openxmlformats.org/officeDocument/2006/relationships/image" Target="../media/diagram_3_7.png" /><ns0:Relationship Id="rId8" Type="http://schemas.openxmlformats.org/officeDocument/2006/relationships/image" Target="../media/diagram_3_8.png" /><ns0:Relationship Id="rId9" Type="http://schemas.openxmlformats.org/officeDocument/2006/relationships/image" Target="../media/diagram_3_9.pn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ystem_overview">
    <p:spTree>
      <p:nvGrpSpPr>
        <p:cNvPr id="1" name=""/>
        <p:cNvGrpSpPr/>
        <p:nvPr/>
      </p:nvGrpSpPr>
      <p:grpSpPr/>
      <p:sp>
        <p:nvSpPr>
          <p:cNvPr id="2" name="RGB observations"/>
          <p:cNvSpPr txBox="1"/>
          <p:nvPr/>
        </p:nvSpPr>
        <p:spPr>
          <a:xfrm>
            <a:off x="210000" y="288000"/>
            <a:ext cx="1560000" cy="21815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227" b="1">
                <a:solidFill>
                  <a:srgbClr val="2869AE"/>
                </a:solidFill>
                <a:latin typeface="DejaVu Sans"/>
              </a:rPr>
              <a:t>RGB observations</a:t>
            </a:r>
          </a:p>
        </p:txBody>
      </p:sp>
      <p:pic>
        <p:nvPicPr>
          <p:cNvPr id="3" name="scene_with_robo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210000" y="630000"/>
            <a:ext cx="1560000" cy="882000"/>
          </a:xfrm>
          <a:prstGeom prst="rect">
            <a:avLst/>
          </a:prstGeom>
        </p:spPr>
      </p:pic>
      <p:sp>
        <p:nvSpPr>
          <p:cNvPr id="4" name="Global visual context"/>
          <p:cNvSpPr txBox="1"/>
          <p:nvPr/>
        </p:nvSpPr>
        <p:spPr>
          <a:xfrm>
            <a:off x="180000" y="1638000"/>
            <a:ext cx="1620000" cy="176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92" b="0">
                <a:solidFill>
                  <a:srgbClr val="647080"/>
                </a:solidFill>
                <a:latin typeface="DejaVu Sans"/>
              </a:rPr>
              <a:t>Global visual context</a:t>
            </a:r>
          </a:p>
        </p:txBody>
      </p:sp>
      <p:sp>
        <p:nvSpPr>
          <p:cNvPr id="5" name="Module box"/>
          <p:cNvSpPr/>
          <p:nvPr/>
        </p:nvSpPr>
        <p:spPr>
          <a:xfrm>
            <a:off x="2100000" y="780000"/>
            <a:ext cx="1530000" cy="600000"/>
          </a:xfrm>
          <a:prstGeom prst="roundRect">
            <a:avLst/>
          </a:prstGeom>
          <a:solidFill>
            <a:srgbClr val="EFF5FC"/>
          </a:solidFill>
          <a:ln w="12000">
            <a:solidFill>
              <a:srgbClr val="2869AE"/>
            </a:solidFill>
          </a:ln>
        </p:spPr>
      </p:sp>
      <p:sp>
        <p:nvSpPr>
          <p:cNvPr id="6" name="Visual encoder"/>
          <p:cNvSpPr txBox="1"/>
          <p:nvPr/>
        </p:nvSpPr>
        <p:spPr>
          <a:xfrm>
            <a:off x="2148000" y="970800"/>
            <a:ext cx="1434000" cy="218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228" b="1">
                <a:solidFill>
                  <a:srgbClr val="2869AE"/>
                </a:solidFill>
                <a:latin typeface="DejaVu Sans"/>
              </a:rPr>
              <a:t>Visual encoder</a:t>
            </a:r>
          </a:p>
        </p:txBody>
      </p:sp>
      <p:sp>
        <p:nvSpPr>
          <p:cNvPr id="7" name="Module box"/>
          <p:cNvSpPr/>
          <p:nvPr/>
        </p:nvSpPr>
        <p:spPr>
          <a:xfrm>
            <a:off x="3990000" y="780000"/>
            <a:ext cx="1320000" cy="600000"/>
          </a:xfrm>
          <a:prstGeom prst="roundRect">
            <a:avLst/>
          </a:prstGeom>
          <a:solidFill>
            <a:srgbClr val="EFF5FC"/>
          </a:solidFill>
          <a:ln w="12000">
            <a:solidFill>
              <a:srgbClr val="2869AE"/>
            </a:solidFill>
          </a:ln>
        </p:spPr>
      </p:sp>
      <p:sp>
        <p:nvSpPr>
          <p:cNvPr id="8" name="Image tokens"/>
          <p:cNvSpPr txBox="1"/>
          <p:nvPr/>
        </p:nvSpPr>
        <p:spPr>
          <a:xfrm>
            <a:off x="4038000" y="970800"/>
            <a:ext cx="1224000" cy="218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228" b="1">
                <a:solidFill>
                  <a:srgbClr val="2869AE"/>
                </a:solidFill>
                <a:latin typeface="DejaVu Sans"/>
              </a:rPr>
              <a:t>Image tokens</a:t>
            </a:r>
          </a:p>
        </p:txBody>
      </p:sp>
      <p:cxnSp>
        <p:nvCxnSpPr>
          <p:cNvPr id="9" name="Flow connector"/>
          <p:cNvCxnSpPr/>
          <p:nvPr/>
        </p:nvCxnSpPr>
        <p:spPr>
          <a:xfrm>
            <a:off x="1770000" y="1080000"/>
            <a:ext cx="330000" cy="0"/>
          </a:xfrm>
          <a:prstGeom prst="line">
            <a:avLst/>
          </a:prstGeom>
          <a:ln w="15000">
            <a:solidFill>
              <a:srgbClr val="2869AE"/>
            </a:solidFill>
            <a:tailEnd type="triangle" w="med" len="med"/>
          </a:ln>
        </p:spPr>
      </p:cxnSp>
      <p:cxnSp>
        <p:nvCxnSpPr>
          <p:cNvPr id="10" name="Flow connector"/>
          <p:cNvCxnSpPr/>
          <p:nvPr/>
        </p:nvCxnSpPr>
        <p:spPr>
          <a:xfrm>
            <a:off x="3630000" y="1080000"/>
            <a:ext cx="360000" cy="0"/>
          </a:xfrm>
          <a:prstGeom prst="line">
            <a:avLst/>
          </a:prstGeom>
          <a:ln w="15000">
            <a:solidFill>
              <a:srgbClr val="2869AE"/>
            </a:solidFill>
            <a:tailEnd type="triangle" w="med" len="med"/>
          </a:ln>
        </p:spPr>
      </p:cxnSp>
      <p:sp>
        <p:nvSpPr>
          <p:cNvPr id="11" name="Whole-body proximity"/>
          <p:cNvSpPr txBox="1"/>
          <p:nvPr/>
        </p:nvSpPr>
        <p:spPr>
          <a:xfrm>
            <a:off x="120000" y="2130000"/>
            <a:ext cx="1740000" cy="19559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100" b="1">
                <a:solidFill>
                  <a:srgbClr val="087F79"/>
                </a:solidFill>
                <a:latin typeface="DejaVu Sans"/>
              </a:rPr>
              <a:t>Whole-body proximity</a:t>
            </a:r>
          </a:p>
        </p:txBody>
      </p:sp>
      <p:pic>
        <p:nvPicPr>
          <p:cNvPr id="12" name="readout_8x8.png"/>
          <p:cNvPicPr/>
          <p:nvPr/>
        </p:nvPicPr>
        <p:blipFill>
          <a:blip r:embed="rId12"/>
          <a:stretch>
            <a:fillRect/>
          </a:stretch>
        </p:blipFill>
        <p:spPr>
          <a:xfrm>
            <a:off x="216000" y="2520000"/>
            <a:ext cx="468000" cy="468000"/>
          </a:xfrm>
          <a:prstGeom prst="rect">
            <a:avLst/>
          </a:prstGeom>
        </p:spPr>
      </p:pic>
      <p:pic>
        <p:nvPicPr>
          <p:cNvPr id="13" name="readout_8x8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756000" y="2520000"/>
            <a:ext cx="468000" cy="468000"/>
          </a:xfrm>
          <a:prstGeom prst="rect">
            <a:avLst/>
          </a:prstGeom>
        </p:spPr>
      </p:pic>
      <p:pic>
        <p:nvPicPr>
          <p:cNvPr id="14" name="readout_8x8.png"/>
          <p:cNvPicPr/>
          <p:nvPr/>
        </p:nvPicPr>
        <p:blipFill>
          <a:blip r:embed="rId14"/>
          <a:stretch>
            <a:fillRect/>
          </a:stretch>
        </p:blipFill>
        <p:spPr>
          <a:xfrm>
            <a:off x="1296000" y="2520000"/>
            <a:ext cx="468000" cy="468000"/>
          </a:xfrm>
          <a:prstGeom prst="rect">
            <a:avLst/>
          </a:prstGeom>
        </p:spPr>
      </p:pic>
      <p:sp>
        <p:nvSpPr>
          <p:cNvPr id="15" name="40 sensors × 8 × 8 ranges"/>
          <p:cNvSpPr txBox="1"/>
          <p:nvPr/>
        </p:nvSpPr>
        <p:spPr>
          <a:xfrm>
            <a:off x="120000" y="3138000"/>
            <a:ext cx="1740000" cy="168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45" b="0">
                <a:solidFill>
                  <a:srgbClr val="647080"/>
                </a:solidFill>
                <a:latin typeface="DejaVu Sans"/>
              </a:rPr>
              <a:t>40 sensors × 8 × 8 ranges</a:t>
            </a:r>
          </a:p>
        </p:txBody>
      </p:sp>
      <p:sp>
        <p:nvSpPr>
          <p:cNvPr id="16" name="Module box"/>
          <p:cNvSpPr/>
          <p:nvPr/>
        </p:nvSpPr>
        <p:spPr>
          <a:xfrm>
            <a:off x="2100000" y="2400000"/>
            <a:ext cx="1530000" cy="672000"/>
          </a:xfrm>
          <a:prstGeom prst="roundRect">
            <a:avLst/>
          </a:prstGeom>
          <a:solidFill>
            <a:srgbClr val="EAF6F3"/>
          </a:solidFill>
          <a:ln w="12000">
            <a:solidFill>
              <a:srgbClr val="087F79"/>
            </a:solidFill>
          </a:ln>
        </p:spPr>
      </p:sp>
      <p:sp>
        <p:nvSpPr>
          <p:cNvPr id="17" name="Temporal encoder"/>
          <p:cNvSpPr txBox="1"/>
          <p:nvPr/>
        </p:nvSpPr>
        <p:spPr>
          <a:xfrm>
            <a:off x="2148000" y="2532000"/>
            <a:ext cx="1434000" cy="198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119" b="1">
                <a:solidFill>
                  <a:srgbClr val="087F79"/>
                </a:solidFill>
                <a:latin typeface="DejaVu Sans"/>
              </a:rPr>
              <a:t>Temporal encoder</a:t>
            </a:r>
          </a:p>
        </p:txBody>
      </p:sp>
      <p:sp>
        <p:nvSpPr>
          <p:cNvPr id="18" name="Shared across sensors"/>
          <p:cNvSpPr txBox="1"/>
          <p:nvPr/>
        </p:nvSpPr>
        <p:spPr>
          <a:xfrm>
            <a:off x="2148000" y="2766000"/>
            <a:ext cx="1434000" cy="168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45" b="0">
                <a:solidFill>
                  <a:srgbClr val="647080"/>
                </a:solidFill>
                <a:latin typeface="DejaVu Sans"/>
              </a:rPr>
              <a:t>Shared across sensors</a:t>
            </a:r>
          </a:p>
        </p:txBody>
      </p:sp>
      <p:sp>
        <p:nvSpPr>
          <p:cNvPr id="19" name="Module box"/>
          <p:cNvSpPr/>
          <p:nvPr/>
        </p:nvSpPr>
        <p:spPr>
          <a:xfrm>
            <a:off x="3990000" y="2400000"/>
            <a:ext cx="1320000" cy="672000"/>
          </a:xfrm>
          <a:prstGeom prst="roundRect">
            <a:avLst/>
          </a:prstGeom>
          <a:solidFill>
            <a:srgbClr val="EAF6F3"/>
          </a:solidFill>
          <a:ln w="12000">
            <a:solidFill>
              <a:srgbClr val="087F79"/>
            </a:solidFill>
          </a:ln>
        </p:spPr>
      </p:sp>
      <p:sp>
        <p:nvSpPr>
          <p:cNvPr id="20" name="Sensor tokens"/>
          <p:cNvSpPr txBox="1"/>
          <p:nvPr/>
        </p:nvSpPr>
        <p:spPr>
          <a:xfrm>
            <a:off x="4038000" y="2532000"/>
            <a:ext cx="1224000" cy="2136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201" b="1">
                <a:solidFill>
                  <a:srgbClr val="087F79"/>
                </a:solidFill>
                <a:latin typeface="DejaVu Sans"/>
              </a:rPr>
              <a:t>Sensor tokens</a:t>
            </a:r>
          </a:p>
        </p:txBody>
      </p:sp>
      <p:sp>
        <p:nvSpPr>
          <p:cNvPr id="21" name="One per sensor"/>
          <p:cNvSpPr txBox="1"/>
          <p:nvPr/>
        </p:nvSpPr>
        <p:spPr>
          <a:xfrm>
            <a:off x="4038000" y="2766000"/>
            <a:ext cx="1224000" cy="168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45" b="0">
                <a:solidFill>
                  <a:srgbClr val="647080"/>
                </a:solidFill>
                <a:latin typeface="DejaVu Sans"/>
              </a:rPr>
              <a:t>One per sensor</a:t>
            </a:r>
          </a:p>
        </p:txBody>
      </p:sp>
      <p:cxnSp>
        <p:nvCxnSpPr>
          <p:cNvPr id="22" name="Flow connector"/>
          <p:cNvCxnSpPr/>
          <p:nvPr/>
        </p:nvCxnSpPr>
        <p:spPr>
          <a:xfrm>
            <a:off x="1770000" y="2736000"/>
            <a:ext cx="330000" cy="0"/>
          </a:xfrm>
          <a:prstGeom prst="line">
            <a:avLst/>
          </a:prstGeom>
          <a:ln w="15000">
            <a:solidFill>
              <a:srgbClr val="087F79"/>
            </a:solidFill>
            <a:tailEnd type="triangle" w="med" len="med"/>
          </a:ln>
        </p:spPr>
      </p:cxnSp>
      <p:cxnSp>
        <p:nvCxnSpPr>
          <p:cNvPr id="23" name="Flow connector"/>
          <p:cNvCxnSpPr/>
          <p:nvPr/>
        </p:nvCxnSpPr>
        <p:spPr>
          <a:xfrm>
            <a:off x="3630000" y="2736000"/>
            <a:ext cx="360000" cy="0"/>
          </a:xfrm>
          <a:prstGeom prst="line">
            <a:avLst/>
          </a:prstGeom>
          <a:ln w="15000">
            <a:solidFill>
              <a:srgbClr val="087F79"/>
            </a:solidFill>
            <a:tailEnd type="triangle" w="med" len="med"/>
          </a:ln>
        </p:spPr>
      </p:cxnSp>
      <p:sp>
        <p:nvSpPr>
          <p:cNvPr id="24" name="Module box"/>
          <p:cNvSpPr/>
          <p:nvPr/>
        </p:nvSpPr>
        <p:spPr>
          <a:xfrm>
            <a:off x="3990000" y="3672000"/>
            <a:ext cx="1320000" cy="540000"/>
          </a:xfrm>
          <a:prstGeom prst="roundRect">
            <a:avLst/>
          </a:prstGeom>
          <a:solidFill>
            <a:srgbClr val="F7F9FB"/>
          </a:solidFill>
          <a:ln w="12000">
            <a:solidFill>
              <a:srgbClr val="647080"/>
            </a:solidFill>
          </a:ln>
        </p:spPr>
      </p:sp>
      <p:sp>
        <p:nvSpPr>
          <p:cNvPr id="25" name="Joint state"/>
          <p:cNvSpPr txBox="1"/>
          <p:nvPr/>
        </p:nvSpPr>
        <p:spPr>
          <a:xfrm>
            <a:off x="4038000" y="3738000"/>
            <a:ext cx="1224000" cy="218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228" b="1">
                <a:solidFill>
                  <a:srgbClr val="647080"/>
                </a:solidFill>
                <a:latin typeface="DejaVu Sans"/>
              </a:rPr>
              <a:t>Joint state</a:t>
            </a:r>
          </a:p>
        </p:txBody>
      </p:sp>
      <p:sp>
        <p:nvSpPr>
          <p:cNvPr id="26" name="Arm + gripper"/>
          <p:cNvSpPr txBox="1"/>
          <p:nvPr/>
        </p:nvSpPr>
        <p:spPr>
          <a:xfrm>
            <a:off x="4038000" y="3972000"/>
            <a:ext cx="1224000" cy="168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45" b="0">
                <a:solidFill>
                  <a:srgbClr val="647080"/>
                </a:solidFill>
                <a:latin typeface="DejaVu Sans"/>
              </a:rPr>
              <a:t>Arm + gripper</a:t>
            </a:r>
          </a:p>
        </p:txBody>
      </p:sp>
      <p:sp>
        <p:nvSpPr>
          <p:cNvPr id="27" name="Module box"/>
          <p:cNvSpPr/>
          <p:nvPr/>
        </p:nvSpPr>
        <p:spPr>
          <a:xfrm>
            <a:off x="6060000" y="1230000"/>
            <a:ext cx="1740000" cy="1842000"/>
          </a:xfrm>
          <a:prstGeom prst="roundRect">
            <a:avLst/>
          </a:prstGeom>
          <a:solidFill>
            <a:srgbClr val="F4F0F8"/>
          </a:solidFill>
          <a:ln w="12000">
            <a:solidFill>
              <a:srgbClr val="6A5192"/>
            </a:solidFill>
          </a:ln>
        </p:spPr>
      </p:sp>
      <p:sp>
        <p:nvSpPr>
          <p:cNvPr id="28" name="PACT"/>
          <p:cNvSpPr txBox="1"/>
          <p:nvPr/>
        </p:nvSpPr>
        <p:spPr>
          <a:xfrm>
            <a:off x="6108000" y="1947000"/>
            <a:ext cx="1644000" cy="319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795" b="1">
                <a:solidFill>
                  <a:srgbClr val="6A5192"/>
                </a:solidFill>
                <a:latin typeface="DejaVu Sans"/>
              </a:rPr>
              <a:t>PACT</a:t>
            </a:r>
          </a:p>
        </p:txBody>
      </p:sp>
      <p:sp>
        <p:nvSpPr>
          <p:cNvPr id="29" name="Multimodal transformer"/>
          <p:cNvSpPr txBox="1"/>
          <p:nvPr/>
        </p:nvSpPr>
        <p:spPr>
          <a:xfrm>
            <a:off x="6108000" y="2181000"/>
            <a:ext cx="1644000" cy="168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45" b="0">
                <a:solidFill>
                  <a:srgbClr val="647080"/>
                </a:solidFill>
                <a:latin typeface="DejaVu Sans"/>
              </a:rPr>
              <a:t>Multimodal transformer</a:t>
            </a:r>
          </a:p>
        </p:txBody>
      </p:sp>
      <p:cxnSp>
        <p:nvCxnSpPr>
          <p:cNvPr id="30" name="Flow connector"/>
          <p:cNvCxnSpPr/>
          <p:nvPr/>
        </p:nvCxnSpPr>
        <p:spPr>
          <a:xfrm>
            <a:off x="5310000" y="1080000"/>
            <a:ext cx="372000" cy="0"/>
          </a:xfrm>
          <a:prstGeom prst="line">
            <a:avLst/>
          </a:prstGeom>
          <a:ln w="15000">
            <a:solidFill>
              <a:srgbClr val="2869AE"/>
            </a:solidFill>
          </a:ln>
        </p:spPr>
      </p:cxnSp>
      <p:cxnSp>
        <p:nvCxnSpPr>
          <p:cNvPr id="31" name="Flow connector"/>
          <p:cNvCxnSpPr/>
          <p:nvPr/>
        </p:nvCxnSpPr>
        <p:spPr>
          <a:xfrm>
            <a:off x="5682000" y="1080000"/>
            <a:ext cx="0" cy="600000"/>
          </a:xfrm>
          <a:prstGeom prst="line">
            <a:avLst/>
          </a:prstGeom>
          <a:ln w="15000">
            <a:solidFill>
              <a:srgbClr val="2869AE"/>
            </a:solidFill>
          </a:ln>
        </p:spPr>
      </p:cxnSp>
      <p:cxnSp>
        <p:nvCxnSpPr>
          <p:cNvPr id="32" name="Flow connector"/>
          <p:cNvCxnSpPr/>
          <p:nvPr/>
        </p:nvCxnSpPr>
        <p:spPr>
          <a:xfrm>
            <a:off x="5682000" y="1680000"/>
            <a:ext cx="378000" cy="0"/>
          </a:xfrm>
          <a:prstGeom prst="line">
            <a:avLst/>
          </a:prstGeom>
          <a:ln w="15000">
            <a:solidFill>
              <a:srgbClr val="2869AE"/>
            </a:solidFill>
            <a:tailEnd type="triangle" w="med" len="med"/>
          </a:ln>
        </p:spPr>
      </p:cxnSp>
      <p:cxnSp>
        <p:nvCxnSpPr>
          <p:cNvPr id="33" name="Flow connector"/>
          <p:cNvCxnSpPr/>
          <p:nvPr/>
        </p:nvCxnSpPr>
        <p:spPr>
          <a:xfrm>
            <a:off x="5310000" y="2736000"/>
            <a:ext cx="372000" cy="0"/>
          </a:xfrm>
          <a:prstGeom prst="line">
            <a:avLst/>
          </a:prstGeom>
          <a:ln w="15000">
            <a:solidFill>
              <a:srgbClr val="087F79"/>
            </a:solidFill>
          </a:ln>
        </p:spPr>
      </p:cxnSp>
      <p:cxnSp>
        <p:nvCxnSpPr>
          <p:cNvPr id="34" name="Flow connector"/>
          <p:cNvCxnSpPr/>
          <p:nvPr/>
        </p:nvCxnSpPr>
        <p:spPr>
          <a:xfrm flipV="1">
            <a:off x="5682000" y="2472000"/>
            <a:ext cx="0" cy="264000"/>
          </a:xfrm>
          <a:prstGeom prst="line">
            <a:avLst/>
          </a:prstGeom>
          <a:ln w="15000">
            <a:solidFill>
              <a:srgbClr val="087F79"/>
            </a:solidFill>
          </a:ln>
        </p:spPr>
      </p:cxnSp>
      <p:cxnSp>
        <p:nvCxnSpPr>
          <p:cNvPr id="35" name="Flow connector"/>
          <p:cNvCxnSpPr/>
          <p:nvPr/>
        </p:nvCxnSpPr>
        <p:spPr>
          <a:xfrm>
            <a:off x="5682000" y="2472000"/>
            <a:ext cx="378000" cy="0"/>
          </a:xfrm>
          <a:prstGeom prst="line">
            <a:avLst/>
          </a:prstGeom>
          <a:ln w="15000">
            <a:solidFill>
              <a:srgbClr val="087F79"/>
            </a:solidFill>
            <a:tailEnd type="triangle" w="med" len="med"/>
          </a:ln>
        </p:spPr>
      </p:cxnSp>
      <p:cxnSp>
        <p:nvCxnSpPr>
          <p:cNvPr id="36" name="Flow connector"/>
          <p:cNvCxnSpPr/>
          <p:nvPr/>
        </p:nvCxnSpPr>
        <p:spPr>
          <a:xfrm>
            <a:off x="5310000" y="3942000"/>
            <a:ext cx="540000" cy="0"/>
          </a:xfrm>
          <a:prstGeom prst="line">
            <a:avLst/>
          </a:prstGeom>
          <a:ln w="15000">
            <a:solidFill>
              <a:srgbClr val="647080"/>
            </a:solidFill>
          </a:ln>
        </p:spPr>
      </p:cxnSp>
      <p:cxnSp>
        <p:nvCxnSpPr>
          <p:cNvPr id="37" name="Flow connector"/>
          <p:cNvCxnSpPr/>
          <p:nvPr/>
        </p:nvCxnSpPr>
        <p:spPr>
          <a:xfrm flipV="1">
            <a:off x="5850000" y="2904000"/>
            <a:ext cx="0" cy="1038000"/>
          </a:xfrm>
          <a:prstGeom prst="line">
            <a:avLst/>
          </a:prstGeom>
          <a:ln w="15000">
            <a:solidFill>
              <a:srgbClr val="647080"/>
            </a:solidFill>
          </a:ln>
        </p:spPr>
      </p:cxnSp>
      <p:cxnSp>
        <p:nvCxnSpPr>
          <p:cNvPr id="38" name="Flow connector"/>
          <p:cNvCxnSpPr/>
          <p:nvPr/>
        </p:nvCxnSpPr>
        <p:spPr>
          <a:xfrm>
            <a:off x="5850000" y="2904000"/>
            <a:ext cx="210000" cy="0"/>
          </a:xfrm>
          <a:prstGeom prst="line">
            <a:avLst/>
          </a:prstGeom>
          <a:ln w="15000">
            <a:solidFill>
              <a:srgbClr val="647080"/>
            </a:solidFill>
            <a:tailEnd type="triangle" w="med" len="med"/>
          </a:ln>
        </p:spPr>
      </p:cxnSp>
      <p:sp>
        <p:nvSpPr>
          <p:cNvPr id="39" name="Module box"/>
          <p:cNvSpPr/>
          <p:nvPr/>
        </p:nvSpPr>
        <p:spPr>
          <a:xfrm>
            <a:off x="8400000" y="1794000"/>
            <a:ext cx="2220000" cy="708000"/>
          </a:xfrm>
          <a:prstGeom prst="roundRect">
            <a:avLst/>
          </a:prstGeom>
          <a:solidFill>
            <a:srgbClr val="FCF6EB"/>
          </a:solidFill>
          <a:ln w="12000">
            <a:solidFill>
              <a:srgbClr val="A86D22"/>
            </a:solidFill>
          </a:ln>
        </p:spPr>
      </p:sp>
      <p:sp>
        <p:nvSpPr>
          <p:cNvPr id="40" name="Action chunk"/>
          <p:cNvSpPr txBox="1"/>
          <p:nvPr/>
        </p:nvSpPr>
        <p:spPr>
          <a:xfrm>
            <a:off x="8448000" y="1944000"/>
            <a:ext cx="2124000" cy="252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417" b="1">
                <a:solidFill>
                  <a:srgbClr val="A86D22"/>
                </a:solidFill>
                <a:latin typeface="DejaVu Sans"/>
              </a:rPr>
              <a:t>Action chunk</a:t>
            </a:r>
          </a:p>
        </p:txBody>
      </p:sp>
      <p:sp>
        <p:nvSpPr>
          <p:cNvPr id="41" name="Arm + gripper commands"/>
          <p:cNvSpPr txBox="1"/>
          <p:nvPr/>
        </p:nvSpPr>
        <p:spPr>
          <a:xfrm>
            <a:off x="8448000" y="2178000"/>
            <a:ext cx="2124000" cy="168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45" b="0">
                <a:solidFill>
                  <a:srgbClr val="647080"/>
                </a:solidFill>
                <a:latin typeface="DejaVu Sans"/>
              </a:rPr>
              <a:t>Arm + gripper commands</a:t>
            </a:r>
          </a:p>
        </p:txBody>
      </p:sp>
      <p:cxnSp>
        <p:nvCxnSpPr>
          <p:cNvPr id="42" name="Flow connector"/>
          <p:cNvCxnSpPr/>
          <p:nvPr/>
        </p:nvCxnSpPr>
        <p:spPr>
          <a:xfrm>
            <a:off x="7800000" y="2148000"/>
            <a:ext cx="600000" cy="0"/>
          </a:xfrm>
          <a:prstGeom prst="line">
            <a:avLst/>
          </a:prstGeom>
          <a:ln w="15000">
            <a:solidFill>
              <a:srgbClr val="6A5192"/>
            </a:solidFill>
            <a:tailEnd type="triangle" w="med" len="med"/>
          </a:ln>
        </p:spPr>
      </p:cxnSp>
      <p:sp>
        <p:nvSpPr>
          <p:cNvPr id="43" name="Execute, then query again"/>
          <p:cNvSpPr txBox="1"/>
          <p:nvPr/>
        </p:nvSpPr>
        <p:spPr>
          <a:xfrm>
            <a:off x="8250000" y="2730000"/>
            <a:ext cx="2520000" cy="18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039" b="0">
                <a:solidFill>
                  <a:srgbClr val="647080"/>
                </a:solidFill>
                <a:latin typeface="DejaVu Sans"/>
              </a:rPr>
              <a:t>Execute, then query again</a:t>
            </a:r>
          </a:p>
        </p:txBody>
      </p:sp>
      <p:sp>
        <p:nvSpPr>
          <p:cNvPr id="44" name="Live RGB and proximity at each policy query"/>
          <p:cNvSpPr txBox="1"/>
          <p:nvPr/>
        </p:nvSpPr>
        <p:spPr>
          <a:xfrm>
            <a:off x="192000" y="4086000"/>
            <a:ext cx="3420000" cy="176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l"/>
            <a:r>
              <a:rPr lang="en-US" sz="992" b="0">
                <a:solidFill>
                  <a:srgbClr val="647080"/>
                </a:solidFill>
                <a:latin typeface="DejaVu Sans"/>
              </a:rPr>
              <a:t>Live RGB and proximity at each policy query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readout_architecture">
    <p:spTree>
      <p:nvGrpSpPr>
        <p:cNvPr id="1" name=""/>
        <p:cNvGrpSpPr/>
        <p:nvPr/>
      </p:nvGrpSpPr>
      <p:grpSpPr/>
      <p:sp>
        <p:nvSpPr>
          <p:cNvPr id="2" name="Module box"/>
          <p:cNvSpPr/>
          <p:nvPr/>
        </p:nvSpPr>
        <p:spPr>
          <a:xfrm>
            <a:off x="180000" y="540000"/>
            <a:ext cx="1380000" cy="630000"/>
          </a:xfrm>
          <a:prstGeom prst="roundRect">
            <a:avLst/>
          </a:prstGeom>
          <a:solidFill>
            <a:srgbClr val="EFF5FC"/>
          </a:solidFill>
          <a:ln w="12000">
            <a:solidFill>
              <a:srgbClr val="2869AE"/>
            </a:solidFill>
          </a:ln>
        </p:spPr>
      </p:sp>
      <p:sp>
        <p:nvSpPr>
          <p:cNvPr id="3" name="RGB camera(s)"/>
          <p:cNvSpPr txBox="1"/>
          <p:nvPr/>
        </p:nvSpPr>
        <p:spPr>
          <a:xfrm>
            <a:off x="228000" y="651000"/>
            <a:ext cx="1284000" cy="2148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208" b="1">
                <a:solidFill>
                  <a:srgbClr val="2869AE"/>
                </a:solidFill>
                <a:latin typeface="DejaVu Sans"/>
              </a:rPr>
              <a:t>RGB camera(s)</a:t>
            </a:r>
          </a:p>
        </p:txBody>
      </p:sp>
      <p:sp>
        <p:nvSpPr>
          <p:cNvPr id="4" name="240 × 320 per view"/>
          <p:cNvSpPr txBox="1"/>
          <p:nvPr/>
        </p:nvSpPr>
        <p:spPr>
          <a:xfrm>
            <a:off x="228000" y="885000"/>
            <a:ext cx="1284000" cy="168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45" b="0">
                <a:solidFill>
                  <a:srgbClr val="647080"/>
                </a:solidFill>
                <a:latin typeface="DejaVu Sans"/>
              </a:rPr>
              <a:t>240 × 320 per view</a:t>
            </a:r>
          </a:p>
        </p:txBody>
      </p:sp>
      <p:sp>
        <p:nvSpPr>
          <p:cNvPr id="5" name="Module box"/>
          <p:cNvSpPr/>
          <p:nvPr/>
        </p:nvSpPr>
        <p:spPr>
          <a:xfrm>
            <a:off x="1860000" y="540000"/>
            <a:ext cx="1380000" cy="630000"/>
          </a:xfrm>
          <a:prstGeom prst="roundRect">
            <a:avLst/>
          </a:prstGeom>
          <a:solidFill>
            <a:srgbClr val="EFF5FC"/>
          </a:solidFill>
          <a:ln w="12000">
            <a:solidFill>
              <a:srgbClr val="2869AE"/>
            </a:solidFill>
          </a:ln>
        </p:spPr>
      </p:sp>
      <p:sp>
        <p:nvSpPr>
          <p:cNvPr id="6" name="ResNet-18"/>
          <p:cNvSpPr txBox="1"/>
          <p:nvPr/>
        </p:nvSpPr>
        <p:spPr>
          <a:xfrm>
            <a:off x="1908000" y="651000"/>
            <a:ext cx="1284000" cy="218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228" b="1">
                <a:solidFill>
                  <a:srgbClr val="2869AE"/>
                </a:solidFill>
                <a:latin typeface="DejaVu Sans"/>
              </a:rPr>
              <a:t>ResNet-18</a:t>
            </a:r>
          </a:p>
        </p:txBody>
      </p:sp>
      <p:sp>
        <p:nvSpPr>
          <p:cNvPr id="7" name="Shared visual backbone"/>
          <p:cNvSpPr txBox="1"/>
          <p:nvPr/>
        </p:nvSpPr>
        <p:spPr>
          <a:xfrm>
            <a:off x="1908000" y="885000"/>
            <a:ext cx="1284000" cy="15048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846" b="0">
                <a:solidFill>
                  <a:srgbClr val="647080"/>
                </a:solidFill>
                <a:latin typeface="DejaVu Sans"/>
              </a:rPr>
              <a:t>Shared visual backbone</a:t>
            </a:r>
          </a:p>
        </p:txBody>
      </p:sp>
      <p:sp>
        <p:nvSpPr>
          <p:cNvPr id="8" name="Module box"/>
          <p:cNvSpPr/>
          <p:nvPr/>
        </p:nvSpPr>
        <p:spPr>
          <a:xfrm>
            <a:off x="3540000" y="540000"/>
            <a:ext cx="1560000" cy="630000"/>
          </a:xfrm>
          <a:prstGeom prst="roundRect">
            <a:avLst/>
          </a:prstGeom>
          <a:solidFill>
            <a:srgbClr val="EFF5FC"/>
          </a:solidFill>
          <a:ln w="12000">
            <a:solidFill>
              <a:srgbClr val="2869AE"/>
            </a:solidFill>
          </a:ln>
        </p:spPr>
      </p:sp>
      <p:sp>
        <p:nvSpPr>
          <p:cNvPr id="9" name="Image tokens"/>
          <p:cNvSpPr txBox="1"/>
          <p:nvPr/>
        </p:nvSpPr>
        <p:spPr>
          <a:xfrm>
            <a:off x="3588000" y="651000"/>
            <a:ext cx="1464000" cy="218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228" b="1">
                <a:solidFill>
                  <a:srgbClr val="2869AE"/>
                </a:solidFill>
                <a:latin typeface="DejaVu Sans"/>
              </a:rPr>
              <a:t>Image tokens</a:t>
            </a:r>
          </a:p>
        </p:txBody>
      </p:sp>
      <p:sp>
        <p:nvSpPr>
          <p:cNvPr id="10" name="512-d + image positions"/>
          <p:cNvSpPr txBox="1"/>
          <p:nvPr/>
        </p:nvSpPr>
        <p:spPr>
          <a:xfrm>
            <a:off x="3588000" y="885000"/>
            <a:ext cx="1464000" cy="1667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38" b="0">
                <a:solidFill>
                  <a:srgbClr val="647080"/>
                </a:solidFill>
                <a:latin typeface="DejaVu Sans"/>
              </a:rPr>
              <a:t>512-d + image positions</a:t>
            </a:r>
          </a:p>
        </p:txBody>
      </p:sp>
      <p:cxnSp>
        <p:nvCxnSpPr>
          <p:cNvPr id="11" name="Flow connector"/>
          <p:cNvCxnSpPr/>
          <p:nvPr/>
        </p:nvCxnSpPr>
        <p:spPr>
          <a:xfrm>
            <a:off x="1560000" y="858000"/>
            <a:ext cx="300000" cy="0"/>
          </a:xfrm>
          <a:prstGeom prst="line">
            <a:avLst/>
          </a:prstGeom>
          <a:ln w="15000">
            <a:solidFill>
              <a:srgbClr val="2869AE"/>
            </a:solidFill>
            <a:tailEnd type="triangle" w="med" len="med"/>
          </a:ln>
        </p:spPr>
      </p:cxnSp>
      <p:cxnSp>
        <p:nvCxnSpPr>
          <p:cNvPr id="12" name="Flow connector"/>
          <p:cNvCxnSpPr/>
          <p:nvPr/>
        </p:nvCxnSpPr>
        <p:spPr>
          <a:xfrm>
            <a:off x="3240000" y="858000"/>
            <a:ext cx="300000" cy="0"/>
          </a:xfrm>
          <a:prstGeom prst="line">
            <a:avLst/>
          </a:prstGeom>
          <a:ln w="15000">
            <a:solidFill>
              <a:srgbClr val="2869AE"/>
            </a:solidFill>
            <a:tailEnd type="triangle" w="med" len="med"/>
          </a:ln>
        </p:spPr>
      </p:cxnSp>
      <p:sp>
        <p:nvSpPr>
          <p:cNvPr id="13" name="Module box"/>
          <p:cNvSpPr/>
          <p:nvPr/>
        </p:nvSpPr>
        <p:spPr>
          <a:xfrm>
            <a:off x="180000" y="1890000"/>
            <a:ext cx="1380000" cy="792000"/>
          </a:xfrm>
          <a:prstGeom prst="roundRect">
            <a:avLst/>
          </a:prstGeom>
          <a:solidFill>
            <a:srgbClr val="EAF6F3"/>
          </a:solidFill>
          <a:ln w="12000">
            <a:solidFill>
              <a:srgbClr val="087F79"/>
            </a:solidFill>
          </a:ln>
        </p:spPr>
      </p:sp>
      <p:sp>
        <p:nvSpPr>
          <p:cNvPr id="14" name="Range history"/>
          <p:cNvSpPr txBox="1"/>
          <p:nvPr/>
        </p:nvSpPr>
        <p:spPr>
          <a:xfrm>
            <a:off x="228000" y="2082000"/>
            <a:ext cx="1284000" cy="218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228" b="1">
                <a:solidFill>
                  <a:srgbClr val="087F79"/>
                </a:solidFill>
                <a:latin typeface="DejaVu Sans"/>
              </a:rPr>
              <a:t>Range history</a:t>
            </a:r>
          </a:p>
        </p:txBody>
      </p:sp>
      <p:sp>
        <p:nvSpPr>
          <p:cNvPr id="15" name="8 × 40 × 8 × 8"/>
          <p:cNvSpPr txBox="1"/>
          <p:nvPr/>
        </p:nvSpPr>
        <p:spPr>
          <a:xfrm>
            <a:off x="228000" y="2316000"/>
            <a:ext cx="1284000" cy="168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45" b="0">
                <a:solidFill>
                  <a:srgbClr val="647080"/>
                </a:solidFill>
                <a:latin typeface="DejaVu Sans"/>
              </a:rPr>
              <a:t>8 × 40 × 8 × 8</a:t>
            </a:r>
          </a:p>
        </p:txBody>
      </p:sp>
      <p:sp>
        <p:nvSpPr>
          <p:cNvPr id="16" name="Closeness: 5–200 mm"/>
          <p:cNvSpPr txBox="1"/>
          <p:nvPr/>
        </p:nvSpPr>
        <p:spPr>
          <a:xfrm>
            <a:off x="150000" y="2790000"/>
            <a:ext cx="1440000" cy="151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850" b="0">
                <a:solidFill>
                  <a:srgbClr val="647080"/>
                </a:solidFill>
                <a:latin typeface="DejaVu Sans"/>
              </a:rPr>
              <a:t>Closeness: 5–200 mm</a:t>
            </a:r>
          </a:p>
        </p:txBody>
      </p:sp>
      <p:sp>
        <p:nvSpPr>
          <p:cNvPr id="17" name="Module box"/>
          <p:cNvSpPr/>
          <p:nvPr/>
        </p:nvSpPr>
        <p:spPr>
          <a:xfrm>
            <a:off x="1860000" y="1740000"/>
            <a:ext cx="1530000" cy="1080000"/>
          </a:xfrm>
          <a:prstGeom prst="roundRect">
            <a:avLst/>
          </a:prstGeom>
          <a:solidFill>
            <a:srgbClr val="EAF6F3"/>
          </a:solidFill>
          <a:ln w="12000">
            <a:solidFill>
              <a:srgbClr val="087F79"/>
            </a:solidFill>
          </a:ln>
        </p:spPr>
      </p:sp>
      <p:sp>
        <p:nvSpPr>
          <p:cNvPr id="18" name="Shared encoder"/>
          <p:cNvSpPr txBox="1"/>
          <p:nvPr/>
        </p:nvSpPr>
        <p:spPr>
          <a:xfrm>
            <a:off x="1908000" y="2076000"/>
            <a:ext cx="1434000" cy="21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181" b="1">
                <a:solidFill>
                  <a:srgbClr val="087F79"/>
                </a:solidFill>
                <a:latin typeface="DejaVu Sans"/>
              </a:rPr>
              <a:t>Shared encoder</a:t>
            </a:r>
          </a:p>
        </p:txBody>
      </p:sp>
      <p:sp>
        <p:nvSpPr>
          <p:cNvPr id="19" name="CNN + temporal transformer"/>
          <p:cNvSpPr txBox="1"/>
          <p:nvPr/>
        </p:nvSpPr>
        <p:spPr>
          <a:xfrm>
            <a:off x="1908000" y="2310000"/>
            <a:ext cx="1434000" cy="1389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782" b="0">
                <a:solidFill>
                  <a:srgbClr val="647080"/>
                </a:solidFill>
                <a:latin typeface="DejaVu Sans"/>
              </a:rPr>
              <a:t>CNN + temporal transformer</a:t>
            </a:r>
          </a:p>
        </p:txBody>
      </p:sp>
      <p:sp>
        <p:nvSpPr>
          <p:cNvPr id="20" name="Repeat each of 8 frames ×4"/>
          <p:cNvSpPr txBox="1"/>
          <p:nvPr/>
        </p:nvSpPr>
        <p:spPr>
          <a:xfrm>
            <a:off x="1860000" y="2910000"/>
            <a:ext cx="1530000" cy="151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850" b="0">
                <a:solidFill>
                  <a:srgbClr val="647080"/>
                </a:solidFill>
                <a:latin typeface="DejaVu Sans"/>
              </a:rPr>
              <a:t>Repeat each of 8 frames ×4</a:t>
            </a:r>
          </a:p>
        </p:txBody>
      </p:sp>
      <p:sp>
        <p:nvSpPr>
          <p:cNvPr id="21" name="Module box"/>
          <p:cNvSpPr/>
          <p:nvPr/>
        </p:nvSpPr>
        <p:spPr>
          <a:xfrm>
            <a:off x="3690000" y="1920000"/>
            <a:ext cx="1380000" cy="750000"/>
          </a:xfrm>
          <a:prstGeom prst="roundRect">
            <a:avLst/>
          </a:prstGeom>
          <a:solidFill>
            <a:srgbClr val="EAF6F3"/>
          </a:solidFill>
          <a:ln w="12000">
            <a:solidFill>
              <a:srgbClr val="087F79"/>
            </a:solidFill>
          </a:ln>
        </p:spPr>
      </p:sp>
      <p:sp>
        <p:nvSpPr>
          <p:cNvPr id="22" name="40 readouts"/>
          <p:cNvSpPr txBox="1"/>
          <p:nvPr/>
        </p:nvSpPr>
        <p:spPr>
          <a:xfrm>
            <a:off x="3738000" y="2091000"/>
            <a:ext cx="1284000" cy="218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228" b="1">
                <a:solidFill>
                  <a:srgbClr val="087F79"/>
                </a:solidFill>
                <a:latin typeface="DejaVu Sans"/>
              </a:rPr>
              <a:t>40 readouts</a:t>
            </a:r>
          </a:p>
        </p:txBody>
      </p:sp>
      <p:sp>
        <p:nvSpPr>
          <p:cNvPr id="23" name="128-d CLS per sensor"/>
          <p:cNvSpPr txBox="1"/>
          <p:nvPr/>
        </p:nvSpPr>
        <p:spPr>
          <a:xfrm>
            <a:off x="3738000" y="2325000"/>
            <a:ext cx="1284000" cy="1676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43" b="0">
                <a:solidFill>
                  <a:srgbClr val="647080"/>
                </a:solidFill>
                <a:latin typeface="DejaVu Sans"/>
              </a:rPr>
              <a:t>128-d CLS per sensor</a:t>
            </a:r>
          </a:p>
        </p:txBody>
      </p:sp>
      <p:sp>
        <p:nvSpPr>
          <p:cNvPr id="24" name="Module box"/>
          <p:cNvSpPr/>
          <p:nvPr/>
        </p:nvSpPr>
        <p:spPr>
          <a:xfrm>
            <a:off x="5340000" y="1890000"/>
            <a:ext cx="1500000" cy="792000"/>
          </a:xfrm>
          <a:prstGeom prst="roundRect">
            <a:avLst/>
          </a:prstGeom>
          <a:solidFill>
            <a:srgbClr val="EAF6F3"/>
          </a:solidFill>
          <a:ln w="12000">
            <a:solidFill>
              <a:srgbClr val="087F79"/>
            </a:solidFill>
          </a:ln>
        </p:spPr>
      </p:sp>
      <p:sp>
        <p:nvSpPr>
          <p:cNvPr id="25" name="Projection"/>
          <p:cNvSpPr txBox="1"/>
          <p:nvPr/>
        </p:nvSpPr>
        <p:spPr>
          <a:xfrm>
            <a:off x="5388000" y="2082000"/>
            <a:ext cx="1404000" cy="201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134" b="1">
                <a:solidFill>
                  <a:srgbClr val="087F79"/>
                </a:solidFill>
                <a:latin typeface="DejaVu Sans"/>
              </a:rPr>
              <a:t>Projection</a:t>
            </a:r>
          </a:p>
        </p:txBody>
      </p:sp>
      <p:sp>
        <p:nvSpPr>
          <p:cNvPr id="26" name="512-d + sensor identity"/>
          <p:cNvSpPr txBox="1"/>
          <p:nvPr/>
        </p:nvSpPr>
        <p:spPr>
          <a:xfrm>
            <a:off x="5388000" y="2316000"/>
            <a:ext cx="1404000" cy="1661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35" b="0">
                <a:solidFill>
                  <a:srgbClr val="647080"/>
                </a:solidFill>
                <a:latin typeface="DejaVu Sans"/>
              </a:rPr>
              <a:t>512-d + sensor identity</a:t>
            </a:r>
          </a:p>
        </p:txBody>
      </p:sp>
      <p:cxnSp>
        <p:nvCxnSpPr>
          <p:cNvPr id="27" name="Flow connector"/>
          <p:cNvCxnSpPr/>
          <p:nvPr/>
        </p:nvCxnSpPr>
        <p:spPr>
          <a:xfrm>
            <a:off x="1560000" y="2286000"/>
            <a:ext cx="300000" cy="0"/>
          </a:xfrm>
          <a:prstGeom prst="line">
            <a:avLst/>
          </a:prstGeom>
          <a:ln w="15000">
            <a:solidFill>
              <a:srgbClr val="087F79"/>
            </a:solidFill>
            <a:tailEnd type="triangle" w="med" len="med"/>
          </a:ln>
        </p:spPr>
      </p:cxnSp>
      <p:cxnSp>
        <p:nvCxnSpPr>
          <p:cNvPr id="28" name="Flow connector"/>
          <p:cNvCxnSpPr/>
          <p:nvPr/>
        </p:nvCxnSpPr>
        <p:spPr>
          <a:xfrm>
            <a:off x="3390000" y="2286000"/>
            <a:ext cx="300000" cy="0"/>
          </a:xfrm>
          <a:prstGeom prst="line">
            <a:avLst/>
          </a:prstGeom>
          <a:ln w="15000">
            <a:solidFill>
              <a:srgbClr val="087F79"/>
            </a:solidFill>
            <a:tailEnd type="triangle" w="med" len="med"/>
          </a:ln>
        </p:spPr>
      </p:cxnSp>
      <p:cxnSp>
        <p:nvCxnSpPr>
          <p:cNvPr id="29" name="Flow connector"/>
          <p:cNvCxnSpPr/>
          <p:nvPr/>
        </p:nvCxnSpPr>
        <p:spPr>
          <a:xfrm>
            <a:off x="5070000" y="2286000"/>
            <a:ext cx="270000" cy="0"/>
          </a:xfrm>
          <a:prstGeom prst="line">
            <a:avLst/>
          </a:prstGeom>
          <a:ln w="15000">
            <a:solidFill>
              <a:srgbClr val="087F79"/>
            </a:solidFill>
            <a:tailEnd type="triangle" w="med" len="med"/>
          </a:ln>
        </p:spPr>
      </p:cxnSp>
      <p:sp>
        <p:nvSpPr>
          <p:cNvPr id="30" name="Module box"/>
          <p:cNvSpPr/>
          <p:nvPr/>
        </p:nvSpPr>
        <p:spPr>
          <a:xfrm>
            <a:off x="7140000" y="1110000"/>
            <a:ext cx="1350000" cy="1728000"/>
          </a:xfrm>
          <a:prstGeom prst="roundRect">
            <a:avLst/>
          </a:prstGeom>
          <a:solidFill>
            <a:srgbClr val="F4F0F8"/>
          </a:solidFill>
          <a:ln w="12000">
            <a:solidFill>
              <a:srgbClr val="6A5192"/>
            </a:solidFill>
          </a:ln>
        </p:spPr>
      </p:sp>
      <p:sp>
        <p:nvSpPr>
          <p:cNvPr id="31" name="ACT encoder"/>
          <p:cNvSpPr txBox="1"/>
          <p:nvPr/>
        </p:nvSpPr>
        <p:spPr>
          <a:xfrm>
            <a:off x="7188000" y="1770000"/>
            <a:ext cx="1254000" cy="218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228" b="1">
                <a:solidFill>
                  <a:srgbClr val="6A5192"/>
                </a:solidFill>
                <a:latin typeface="DejaVu Sans"/>
              </a:rPr>
              <a:t>ACT encoder</a:t>
            </a:r>
          </a:p>
        </p:txBody>
      </p:sp>
      <p:sp>
        <p:nvSpPr>
          <p:cNvPr id="32" name="4 layers · 512-d"/>
          <p:cNvSpPr txBox="1"/>
          <p:nvPr/>
        </p:nvSpPr>
        <p:spPr>
          <a:xfrm>
            <a:off x="7188000" y="2004000"/>
            <a:ext cx="1254000" cy="168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45" b="0">
                <a:solidFill>
                  <a:srgbClr val="647080"/>
                </a:solidFill>
                <a:latin typeface="DejaVu Sans"/>
              </a:rPr>
              <a:t>4 layers · 512-d</a:t>
            </a:r>
          </a:p>
        </p:txBody>
      </p:sp>
      <p:cxnSp>
        <p:nvCxnSpPr>
          <p:cNvPr id="33" name="Flow connector"/>
          <p:cNvCxnSpPr/>
          <p:nvPr/>
        </p:nvCxnSpPr>
        <p:spPr>
          <a:xfrm>
            <a:off x="5100000" y="858000"/>
            <a:ext cx="1788000" cy="0"/>
          </a:xfrm>
          <a:prstGeom prst="line">
            <a:avLst/>
          </a:prstGeom>
          <a:ln w="15000">
            <a:solidFill>
              <a:srgbClr val="2869AE"/>
            </a:solidFill>
          </a:ln>
        </p:spPr>
      </p:cxnSp>
      <p:cxnSp>
        <p:nvCxnSpPr>
          <p:cNvPr id="34" name="Flow connector"/>
          <p:cNvCxnSpPr/>
          <p:nvPr/>
        </p:nvCxnSpPr>
        <p:spPr>
          <a:xfrm>
            <a:off x="6888000" y="858000"/>
            <a:ext cx="0" cy="582000"/>
          </a:xfrm>
          <a:prstGeom prst="line">
            <a:avLst/>
          </a:prstGeom>
          <a:ln w="15000">
            <a:solidFill>
              <a:srgbClr val="2869AE"/>
            </a:solidFill>
          </a:ln>
        </p:spPr>
      </p:cxnSp>
      <p:cxnSp>
        <p:nvCxnSpPr>
          <p:cNvPr id="35" name="Flow connector"/>
          <p:cNvCxnSpPr/>
          <p:nvPr/>
        </p:nvCxnSpPr>
        <p:spPr>
          <a:xfrm>
            <a:off x="6888000" y="1440000"/>
            <a:ext cx="252000" cy="0"/>
          </a:xfrm>
          <a:prstGeom prst="line">
            <a:avLst/>
          </a:prstGeom>
          <a:ln w="15000">
            <a:solidFill>
              <a:srgbClr val="2869AE"/>
            </a:solidFill>
            <a:tailEnd type="triangle" w="med" len="med"/>
          </a:ln>
        </p:spPr>
      </p:cxnSp>
      <p:cxnSp>
        <p:nvCxnSpPr>
          <p:cNvPr id="36" name="Flow connector"/>
          <p:cNvCxnSpPr/>
          <p:nvPr/>
        </p:nvCxnSpPr>
        <p:spPr>
          <a:xfrm>
            <a:off x="6840000" y="2286000"/>
            <a:ext cx="300000" cy="0"/>
          </a:xfrm>
          <a:prstGeom prst="line">
            <a:avLst/>
          </a:prstGeom>
          <a:ln w="15000">
            <a:solidFill>
              <a:srgbClr val="087F79"/>
            </a:solidFill>
            <a:tailEnd type="triangle" w="med" len="med"/>
          </a:ln>
        </p:spPr>
      </p:cxnSp>
      <p:sp>
        <p:nvSpPr>
          <p:cNvPr id="37" name="Module box"/>
          <p:cNvSpPr/>
          <p:nvPr/>
        </p:nvSpPr>
        <p:spPr>
          <a:xfrm>
            <a:off x="8880000" y="1320000"/>
            <a:ext cx="1320000" cy="1260000"/>
          </a:xfrm>
          <a:prstGeom prst="roundRect">
            <a:avLst/>
          </a:prstGeom>
          <a:solidFill>
            <a:srgbClr val="F4F0F8"/>
          </a:solidFill>
          <a:ln w="12000">
            <a:solidFill>
              <a:srgbClr val="6A5192"/>
            </a:solidFill>
          </a:ln>
        </p:spPr>
      </p:sp>
      <p:sp>
        <p:nvSpPr>
          <p:cNvPr id="38" name="ACT decoder"/>
          <p:cNvSpPr txBox="1"/>
          <p:nvPr/>
        </p:nvSpPr>
        <p:spPr>
          <a:xfrm>
            <a:off x="8928000" y="1746000"/>
            <a:ext cx="1224000" cy="218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228" b="1">
                <a:solidFill>
                  <a:srgbClr val="6A5192"/>
                </a:solidFill>
                <a:latin typeface="DejaVu Sans"/>
              </a:rPr>
              <a:t>ACT decoder</a:t>
            </a:r>
          </a:p>
        </p:txBody>
      </p:sp>
      <p:sp>
        <p:nvSpPr>
          <p:cNvPr id="39" name="7 layers"/>
          <p:cNvSpPr txBox="1"/>
          <p:nvPr/>
        </p:nvSpPr>
        <p:spPr>
          <a:xfrm>
            <a:off x="8928000" y="1980000"/>
            <a:ext cx="1224000" cy="168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45" b="0">
                <a:solidFill>
                  <a:srgbClr val="647080"/>
                </a:solidFill>
                <a:latin typeface="DejaVu Sans"/>
              </a:rPr>
              <a:t>7 layers</a:t>
            </a:r>
          </a:p>
        </p:txBody>
      </p:sp>
      <p:cxnSp>
        <p:nvCxnSpPr>
          <p:cNvPr id="40" name="Flow connector"/>
          <p:cNvCxnSpPr/>
          <p:nvPr/>
        </p:nvCxnSpPr>
        <p:spPr>
          <a:xfrm>
            <a:off x="8490000" y="1980000"/>
            <a:ext cx="390000" cy="0"/>
          </a:xfrm>
          <a:prstGeom prst="line">
            <a:avLst/>
          </a:prstGeom>
          <a:ln w="15000">
            <a:solidFill>
              <a:srgbClr val="6A5192"/>
            </a:solidFill>
            <a:tailEnd type="triangle" w="med" len="med"/>
          </a:ln>
        </p:spPr>
      </p:cxnSp>
      <p:sp>
        <p:nvSpPr>
          <p:cNvPr id="41" name="Module box"/>
          <p:cNvSpPr/>
          <p:nvPr/>
        </p:nvSpPr>
        <p:spPr>
          <a:xfrm>
            <a:off x="8790000" y="384000"/>
            <a:ext cx="1500000" cy="612000"/>
          </a:xfrm>
          <a:prstGeom prst="roundRect">
            <a:avLst/>
          </a:prstGeom>
          <a:solidFill>
            <a:srgbClr val="F4F0F8"/>
          </a:solidFill>
          <a:ln w="12000">
            <a:solidFill>
              <a:srgbClr val="6A5192"/>
            </a:solidFill>
          </a:ln>
        </p:spPr>
      </p:sp>
      <p:sp>
        <p:nvSpPr>
          <p:cNvPr id="42" name="50 queries"/>
          <p:cNvSpPr txBox="1"/>
          <p:nvPr/>
        </p:nvSpPr>
        <p:spPr>
          <a:xfrm>
            <a:off x="8838000" y="486000"/>
            <a:ext cx="1404000" cy="21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181" b="1">
                <a:solidFill>
                  <a:srgbClr val="6A5192"/>
                </a:solidFill>
                <a:latin typeface="DejaVu Sans"/>
              </a:rPr>
              <a:t>50 queries</a:t>
            </a:r>
          </a:p>
        </p:txBody>
      </p:sp>
      <p:sp>
        <p:nvSpPr>
          <p:cNvPr id="43" name="Learned action positions"/>
          <p:cNvSpPr txBox="1"/>
          <p:nvPr/>
        </p:nvSpPr>
        <p:spPr>
          <a:xfrm>
            <a:off x="8838000" y="720000"/>
            <a:ext cx="1404000" cy="16054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03" b="0">
                <a:solidFill>
                  <a:srgbClr val="647080"/>
                </a:solidFill>
                <a:latin typeface="DejaVu Sans"/>
              </a:rPr>
              <a:t>Learned action positions</a:t>
            </a:r>
          </a:p>
        </p:txBody>
      </p:sp>
      <p:cxnSp>
        <p:nvCxnSpPr>
          <p:cNvPr id="44" name="Flow connector"/>
          <p:cNvCxnSpPr/>
          <p:nvPr/>
        </p:nvCxnSpPr>
        <p:spPr>
          <a:xfrm>
            <a:off x="9540000" y="996000"/>
            <a:ext cx="0" cy="324000"/>
          </a:xfrm>
          <a:prstGeom prst="line">
            <a:avLst/>
          </a:prstGeom>
          <a:ln w="15000">
            <a:solidFill>
              <a:srgbClr val="6A5192"/>
            </a:solidFill>
            <a:tailEnd type="triangle" w="med" len="med"/>
          </a:ln>
        </p:spPr>
      </p:cxnSp>
      <p:sp>
        <p:nvSpPr>
          <p:cNvPr id="45" name="Module box"/>
          <p:cNvSpPr/>
          <p:nvPr/>
        </p:nvSpPr>
        <p:spPr>
          <a:xfrm>
            <a:off x="8820000" y="3030000"/>
            <a:ext cx="1470000" cy="612000"/>
          </a:xfrm>
          <a:prstGeom prst="roundRect">
            <a:avLst/>
          </a:prstGeom>
          <a:solidFill>
            <a:srgbClr val="FCF6EB"/>
          </a:solidFill>
          <a:ln w="12000">
            <a:solidFill>
              <a:srgbClr val="A86D22"/>
            </a:solidFill>
          </a:ln>
        </p:spPr>
      </p:sp>
      <p:sp>
        <p:nvSpPr>
          <p:cNvPr id="46" name="Action chunk"/>
          <p:cNvSpPr txBox="1"/>
          <p:nvPr/>
        </p:nvSpPr>
        <p:spPr>
          <a:xfrm>
            <a:off x="8868000" y="3132000"/>
            <a:ext cx="1374000" cy="218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228" b="1">
                <a:solidFill>
                  <a:srgbClr val="A86D22"/>
                </a:solidFill>
                <a:latin typeface="DejaVu Sans"/>
              </a:rPr>
              <a:t>Action chunk</a:t>
            </a:r>
          </a:p>
        </p:txBody>
      </p:sp>
      <p:sp>
        <p:nvSpPr>
          <p:cNvPr id="47" name="50 × 8 commands"/>
          <p:cNvSpPr txBox="1"/>
          <p:nvPr/>
        </p:nvSpPr>
        <p:spPr>
          <a:xfrm>
            <a:off x="8868000" y="3366000"/>
            <a:ext cx="1374000" cy="168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45" b="0">
                <a:solidFill>
                  <a:srgbClr val="647080"/>
                </a:solidFill>
                <a:latin typeface="DejaVu Sans"/>
              </a:rPr>
              <a:t>50 × 8 commands</a:t>
            </a:r>
          </a:p>
        </p:txBody>
      </p:sp>
      <p:cxnSp>
        <p:nvCxnSpPr>
          <p:cNvPr id="48" name="Flow connector"/>
          <p:cNvCxnSpPr/>
          <p:nvPr/>
        </p:nvCxnSpPr>
        <p:spPr>
          <a:xfrm>
            <a:off x="9540000" y="2580000"/>
            <a:ext cx="0" cy="450000"/>
          </a:xfrm>
          <a:prstGeom prst="line">
            <a:avLst/>
          </a:prstGeom>
          <a:ln w="15000">
            <a:solidFill>
              <a:srgbClr val="6A5192"/>
            </a:solidFill>
            <a:tailEnd type="triangle" w="med" len="med"/>
          </a:ln>
        </p:spPr>
      </p:cxnSp>
      <p:sp>
        <p:nvSpPr>
          <p:cNvPr id="49" name="Module box"/>
          <p:cNvSpPr/>
          <p:nvPr/>
        </p:nvSpPr>
        <p:spPr>
          <a:xfrm>
            <a:off x="5340000" y="3120000"/>
            <a:ext cx="1500000" cy="600000"/>
          </a:xfrm>
          <a:prstGeom prst="roundRect">
            <a:avLst/>
          </a:prstGeom>
          <a:solidFill>
            <a:srgbClr val="F7F9FB"/>
          </a:solidFill>
          <a:ln w="12000">
            <a:solidFill>
              <a:srgbClr val="647080"/>
            </a:solidFill>
          </a:ln>
        </p:spPr>
      </p:sp>
      <p:sp>
        <p:nvSpPr>
          <p:cNvPr id="50" name="Joint state"/>
          <p:cNvSpPr txBox="1"/>
          <p:nvPr/>
        </p:nvSpPr>
        <p:spPr>
          <a:xfrm>
            <a:off x="5388000" y="3216000"/>
            <a:ext cx="1404000" cy="218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228" b="1">
                <a:solidFill>
                  <a:srgbClr val="647080"/>
                </a:solidFill>
                <a:latin typeface="DejaVu Sans"/>
              </a:rPr>
              <a:t>Joint state</a:t>
            </a:r>
          </a:p>
        </p:txBody>
      </p:sp>
      <p:sp>
        <p:nvSpPr>
          <p:cNvPr id="51" name="9-d → 512-d token"/>
          <p:cNvSpPr txBox="1"/>
          <p:nvPr/>
        </p:nvSpPr>
        <p:spPr>
          <a:xfrm>
            <a:off x="5388000" y="3450000"/>
            <a:ext cx="1404000" cy="168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45" b="0">
                <a:solidFill>
                  <a:srgbClr val="647080"/>
                </a:solidFill>
                <a:latin typeface="DejaVu Sans"/>
              </a:rPr>
              <a:t>9-d → 512-d token</a:t>
            </a:r>
          </a:p>
        </p:txBody>
      </p:sp>
      <p:cxnSp>
        <p:nvCxnSpPr>
          <p:cNvPr id="52" name="Flow connector"/>
          <p:cNvCxnSpPr/>
          <p:nvPr/>
        </p:nvCxnSpPr>
        <p:spPr>
          <a:xfrm>
            <a:off x="6840000" y="3420000"/>
            <a:ext cx="180000" cy="0"/>
          </a:xfrm>
          <a:prstGeom prst="line">
            <a:avLst/>
          </a:prstGeom>
          <a:ln w="15000">
            <a:solidFill>
              <a:srgbClr val="647080"/>
            </a:solidFill>
          </a:ln>
        </p:spPr>
      </p:cxnSp>
      <p:cxnSp>
        <p:nvCxnSpPr>
          <p:cNvPr id="53" name="Flow connector"/>
          <p:cNvCxnSpPr/>
          <p:nvPr/>
        </p:nvCxnSpPr>
        <p:spPr>
          <a:xfrm flipV="1">
            <a:off x="7020000" y="2628000"/>
            <a:ext cx="0" cy="792000"/>
          </a:xfrm>
          <a:prstGeom prst="line">
            <a:avLst/>
          </a:prstGeom>
          <a:ln w="15000">
            <a:solidFill>
              <a:srgbClr val="647080"/>
            </a:solidFill>
          </a:ln>
        </p:spPr>
      </p:cxnSp>
      <p:cxnSp>
        <p:nvCxnSpPr>
          <p:cNvPr id="54" name="Flow connector"/>
          <p:cNvCxnSpPr/>
          <p:nvPr/>
        </p:nvCxnSpPr>
        <p:spPr>
          <a:xfrm>
            <a:off x="7020000" y="2628000"/>
            <a:ext cx="120000" cy="0"/>
          </a:xfrm>
          <a:prstGeom prst="line">
            <a:avLst/>
          </a:prstGeom>
          <a:ln w="15000">
            <a:solidFill>
              <a:srgbClr val="647080"/>
            </a:solidFill>
            <a:tailEnd type="triangle" w="med" len="med"/>
          </a:ln>
        </p:spPr>
      </p:cxnSp>
      <p:sp>
        <p:nvSpPr>
          <p:cNvPr id="55" name="Module box"/>
          <p:cNvSpPr/>
          <p:nvPr/>
        </p:nvSpPr>
        <p:spPr>
          <a:xfrm>
            <a:off x="7140000" y="3180000"/>
            <a:ext cx="1350000" cy="600000"/>
          </a:xfrm>
          <a:prstGeom prst="roundRect">
            <a:avLst/>
          </a:prstGeom>
          <a:solidFill>
            <a:srgbClr val="F7F9FB"/>
          </a:solidFill>
          <a:ln w="12000">
            <a:solidFill>
              <a:srgbClr val="647080"/>
            </a:solidFill>
          </a:ln>
        </p:spPr>
      </p:sp>
      <p:sp>
        <p:nvSpPr>
          <p:cNvPr id="56" name="z = 0"/>
          <p:cNvSpPr txBox="1"/>
          <p:nvPr/>
        </p:nvSpPr>
        <p:spPr>
          <a:xfrm>
            <a:off x="7188000" y="3276000"/>
            <a:ext cx="1254000" cy="21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181" b="1">
                <a:solidFill>
                  <a:srgbClr val="647080"/>
                </a:solidFill>
                <a:latin typeface="DejaVu Sans"/>
              </a:rPr>
              <a:t>z = 0</a:t>
            </a:r>
          </a:p>
        </p:txBody>
      </p:sp>
      <p:sp>
        <p:nvSpPr>
          <p:cNvPr id="57" name="Latent token at inference"/>
          <p:cNvSpPr txBox="1"/>
          <p:nvPr/>
        </p:nvSpPr>
        <p:spPr>
          <a:xfrm>
            <a:off x="7188000" y="3510000"/>
            <a:ext cx="1254000" cy="1388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781" b="0">
                <a:solidFill>
                  <a:srgbClr val="647080"/>
                </a:solidFill>
                <a:latin typeface="DejaVu Sans"/>
              </a:rPr>
              <a:t>Latent token at inference</a:t>
            </a:r>
          </a:p>
        </p:txBody>
      </p:sp>
      <p:cxnSp>
        <p:nvCxnSpPr>
          <p:cNvPr id="58" name="Flow connector"/>
          <p:cNvCxnSpPr/>
          <p:nvPr/>
        </p:nvCxnSpPr>
        <p:spPr>
          <a:xfrm flipV="1">
            <a:off x="7818000" y="2838000"/>
            <a:ext cx="0" cy="342000"/>
          </a:xfrm>
          <a:prstGeom prst="line">
            <a:avLst/>
          </a:prstGeom>
          <a:ln w="15000">
            <a:solidFill>
              <a:srgbClr val="647080"/>
            </a:solidFill>
            <a:tailEnd type="triangle" w="med" len="med"/>
          </a:ln>
        </p:spPr>
      </p:cxnSp>
      <p:sp>
        <p:nvSpPr>
          <p:cNvPr id="59" name="Module box"/>
          <p:cNvSpPr/>
          <p:nvPr/>
        </p:nvSpPr>
        <p:spPr>
          <a:xfrm>
            <a:off x="1800000" y="3528000"/>
            <a:ext cx="2910000" cy="564000"/>
          </a:xfrm>
          <a:prstGeom prst="roundRect">
            <a:avLst/>
          </a:prstGeom>
          <a:solidFill>
            <a:srgbClr val="F7FAF9"/>
          </a:solidFill>
          <a:ln w="12000">
            <a:solidFill>
              <a:srgbClr val="087F79"/>
            </a:solidFill>
          </a:ln>
        </p:spPr>
      </p:sp>
      <p:sp>
        <p:nvSpPr>
          <p:cNvPr id="60" name="Geometry pretraining"/>
          <p:cNvSpPr txBox="1"/>
          <p:nvPr/>
        </p:nvSpPr>
        <p:spPr>
          <a:xfrm>
            <a:off x="1848000" y="3606000"/>
            <a:ext cx="2814000" cy="201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1134" b="1">
                <a:solidFill>
                  <a:srgbClr val="087F79"/>
                </a:solidFill>
                <a:latin typeface="DejaVu Sans"/>
              </a:rPr>
              <a:t>Geometry pretraining</a:t>
            </a:r>
          </a:p>
        </p:txBody>
      </p:sp>
      <p:sp>
        <p:nvSpPr>
          <p:cNvPr id="61" name="XYZ · validity · depth · future"/>
          <p:cNvSpPr txBox="1"/>
          <p:nvPr/>
        </p:nvSpPr>
        <p:spPr>
          <a:xfrm>
            <a:off x="1848000" y="3840000"/>
            <a:ext cx="2814000" cy="168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945" b="0">
                <a:solidFill>
                  <a:srgbClr val="647080"/>
                </a:solidFill>
                <a:latin typeface="DejaVu Sans"/>
              </a:rPr>
              <a:t>XYZ · validity · depth · future</a:t>
            </a:r>
          </a:p>
        </p:txBody>
      </p:sp>
      <p:cxnSp>
        <p:nvCxnSpPr>
          <p:cNvPr id="62" name="Flow connector"/>
          <p:cNvCxnSpPr/>
          <p:nvPr/>
        </p:nvCxnSpPr>
        <p:spPr>
          <a:xfrm flipH="1">
            <a:off x="1710000" y="3810000"/>
            <a:ext cx="90000" cy="0"/>
          </a:xfrm>
          <a:prstGeom prst="line">
            <a:avLst/>
          </a:prstGeom>
          <a:ln w="15000">
            <a:solidFill>
              <a:srgbClr val="087F79"/>
            </a:solidFill>
            <a:prstDash val="dash"/>
          </a:ln>
        </p:spPr>
      </p:cxnSp>
      <p:cxnSp>
        <p:nvCxnSpPr>
          <p:cNvPr id="63" name="Flow connector"/>
          <p:cNvCxnSpPr/>
          <p:nvPr/>
        </p:nvCxnSpPr>
        <p:spPr>
          <a:xfrm flipV="1">
            <a:off x="1710000" y="2550000"/>
            <a:ext cx="0" cy="1260000"/>
          </a:xfrm>
          <a:prstGeom prst="line">
            <a:avLst/>
          </a:prstGeom>
          <a:ln w="15000">
            <a:solidFill>
              <a:srgbClr val="087F79"/>
            </a:solidFill>
            <a:prstDash val="dash"/>
          </a:ln>
        </p:spPr>
      </p:cxnSp>
      <p:cxnSp>
        <p:nvCxnSpPr>
          <p:cNvPr id="64" name="Flow connector"/>
          <p:cNvCxnSpPr/>
          <p:nvPr/>
        </p:nvCxnSpPr>
        <p:spPr>
          <a:xfrm>
            <a:off x="1710000" y="2550000"/>
            <a:ext cx="150000" cy="0"/>
          </a:xfrm>
          <a:prstGeom prst="line">
            <a:avLst/>
          </a:prstGeom>
          <a:ln w="15000">
            <a:solidFill>
              <a:srgbClr val="087F79"/>
            </a:solidFill>
            <a:prstDash val="dash"/>
            <a:tailEnd type="triangle" w="med" len="med"/>
          </a:ln>
        </p:spPr>
      </p:cxnSp>
      <p:sp>
        <p:nvSpPr>
          <p:cNvPr id="65" name="Initialize shared encoder"/>
          <p:cNvSpPr txBox="1"/>
          <p:nvPr/>
        </p:nvSpPr>
        <p:spPr>
          <a:xfrm>
            <a:off x="1800000" y="3222000"/>
            <a:ext cx="1920000" cy="151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ctr"/>
            <a:r>
              <a:rPr lang="en-US" sz="850" b="0">
                <a:solidFill>
                  <a:srgbClr val="087F79"/>
                </a:solidFill>
                <a:latin typeface="DejaVu Sans"/>
              </a:rPr>
              <a:t>Initialize shared encoder</a:t>
            </a:r>
          </a:p>
        </p:txBody>
      </p:sp>
      <p:sp>
        <p:nvSpPr>
          <p:cNvPr id="66" name="Inference path shown. History sampling and camera selection depend on the run."/>
          <p:cNvSpPr txBox="1"/>
          <p:nvPr/>
        </p:nvSpPr>
        <p:spPr>
          <a:xfrm>
            <a:off x="180000" y="4308000"/>
            <a:ext cx="9300000" cy="159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l"/>
            <a:r>
              <a:rPr lang="en-US" sz="898" b="0">
                <a:solidFill>
                  <a:srgbClr val="647080"/>
                </a:solidFill>
                <a:latin typeface="DejaVu Sans"/>
              </a:rPr>
              <a:t>Inference path shown. History sampling and camera selection depend on the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ystem_overview_unlabelled">
    <p:spTree>
      <p:nvGrpSpPr>
        <p:cNvPr id="1" name=""/>
        <p:cNvGrpSpPr/>
        <p:nvPr/>
      </p:nvGrpSpPr>
      <p:grpSpPr/>
      <p:pic>
        <p:nvPicPr>
          <p:cNvPr id="2" name="scene_with_robo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0000" y="630000"/>
            <a:ext cx="1560000" cy="882000"/>
          </a:xfrm>
          <a:prstGeom prst="rect">
            <a:avLst/>
          </a:prstGeom>
        </p:spPr>
      </p:pic>
      <p:sp>
        <p:nvSpPr>
          <p:cNvPr id="3" name="Module box"/>
          <p:cNvSpPr/>
          <p:nvPr/>
        </p:nvSpPr>
        <p:spPr>
          <a:xfrm>
            <a:off x="2100000" y="780000"/>
            <a:ext cx="1530000" cy="600000"/>
          </a:xfrm>
          <a:prstGeom prst="roundRect">
            <a:avLst/>
          </a:prstGeom>
          <a:solidFill>
            <a:srgbClr val="EFF5FC"/>
          </a:solidFill>
          <a:ln w="12000">
            <a:solidFill>
              <a:srgbClr val="2869AE"/>
            </a:solidFill>
          </a:ln>
        </p:spPr>
      </p:sp>
      <p:sp>
        <p:nvSpPr>
          <p:cNvPr id="4" name="Module box"/>
          <p:cNvSpPr/>
          <p:nvPr/>
        </p:nvSpPr>
        <p:spPr>
          <a:xfrm>
            <a:off x="3990000" y="780000"/>
            <a:ext cx="1320000" cy="600000"/>
          </a:xfrm>
          <a:prstGeom prst="roundRect">
            <a:avLst/>
          </a:prstGeom>
          <a:solidFill>
            <a:srgbClr val="EFF5FC"/>
          </a:solidFill>
          <a:ln w="12000">
            <a:solidFill>
              <a:srgbClr val="2869AE"/>
            </a:solidFill>
          </a:ln>
        </p:spPr>
      </p:sp>
      <p:cxnSp>
        <p:nvCxnSpPr>
          <p:cNvPr id="5" name="Flow connector"/>
          <p:cNvCxnSpPr/>
          <p:nvPr/>
        </p:nvCxnSpPr>
        <p:spPr>
          <a:xfrm>
            <a:off x="1770000" y="1080000"/>
            <a:ext cx="330000" cy="0"/>
          </a:xfrm>
          <a:prstGeom prst="line">
            <a:avLst/>
          </a:prstGeom>
          <a:ln w="15000">
            <a:solidFill>
              <a:srgbClr val="2869AE"/>
            </a:solidFill>
            <a:tailEnd type="triangle" w="med" len="med"/>
          </a:ln>
        </p:spPr>
      </p:cxnSp>
      <p:cxnSp>
        <p:nvCxnSpPr>
          <p:cNvPr id="6" name="Flow connector"/>
          <p:cNvCxnSpPr/>
          <p:nvPr/>
        </p:nvCxnSpPr>
        <p:spPr>
          <a:xfrm>
            <a:off x="3630000" y="1080000"/>
            <a:ext cx="360000" cy="0"/>
          </a:xfrm>
          <a:prstGeom prst="line">
            <a:avLst/>
          </a:prstGeom>
          <a:ln w="15000">
            <a:solidFill>
              <a:srgbClr val="2869AE"/>
            </a:solidFill>
            <a:tailEnd type="triangle" w="med" len="med"/>
          </a:ln>
        </p:spPr>
      </p:cxnSp>
      <p:pic>
        <p:nvPicPr>
          <p:cNvPr id="7" name="readout_8x8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216000" y="2520000"/>
            <a:ext cx="468000" cy="468000"/>
          </a:xfrm>
          <a:prstGeom prst="rect">
            <a:avLst/>
          </a:prstGeom>
        </p:spPr>
      </p:pic>
      <p:pic>
        <p:nvPicPr>
          <p:cNvPr id="8" name="readout_8x8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756000" y="2520000"/>
            <a:ext cx="468000" cy="468000"/>
          </a:xfrm>
          <a:prstGeom prst="rect">
            <a:avLst/>
          </a:prstGeom>
        </p:spPr>
      </p:pic>
      <p:pic>
        <p:nvPicPr>
          <p:cNvPr id="9" name="readout_8x8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1296000" y="2520000"/>
            <a:ext cx="468000" cy="468000"/>
          </a:xfrm>
          <a:prstGeom prst="rect">
            <a:avLst/>
          </a:prstGeom>
        </p:spPr>
      </p:pic>
      <p:sp>
        <p:nvSpPr>
          <p:cNvPr id="10" name="Module box"/>
          <p:cNvSpPr/>
          <p:nvPr/>
        </p:nvSpPr>
        <p:spPr>
          <a:xfrm>
            <a:off x="2100000" y="2400000"/>
            <a:ext cx="1530000" cy="672000"/>
          </a:xfrm>
          <a:prstGeom prst="roundRect">
            <a:avLst/>
          </a:prstGeom>
          <a:solidFill>
            <a:srgbClr val="EAF6F3"/>
          </a:solidFill>
          <a:ln w="12000">
            <a:solidFill>
              <a:srgbClr val="087F79"/>
            </a:solidFill>
          </a:ln>
        </p:spPr>
      </p:sp>
      <p:sp>
        <p:nvSpPr>
          <p:cNvPr id="11" name="Module box"/>
          <p:cNvSpPr/>
          <p:nvPr/>
        </p:nvSpPr>
        <p:spPr>
          <a:xfrm>
            <a:off x="3990000" y="2400000"/>
            <a:ext cx="1320000" cy="672000"/>
          </a:xfrm>
          <a:prstGeom prst="roundRect">
            <a:avLst/>
          </a:prstGeom>
          <a:solidFill>
            <a:srgbClr val="EAF6F3"/>
          </a:solidFill>
          <a:ln w="12000">
            <a:solidFill>
              <a:srgbClr val="087F79"/>
            </a:solidFill>
          </a:ln>
        </p:spPr>
      </p:sp>
      <p:cxnSp>
        <p:nvCxnSpPr>
          <p:cNvPr id="12" name="Flow connector"/>
          <p:cNvCxnSpPr/>
          <p:nvPr/>
        </p:nvCxnSpPr>
        <p:spPr>
          <a:xfrm>
            <a:off x="1770000" y="2736000"/>
            <a:ext cx="330000" cy="0"/>
          </a:xfrm>
          <a:prstGeom prst="line">
            <a:avLst/>
          </a:prstGeom>
          <a:ln w="15000">
            <a:solidFill>
              <a:srgbClr val="087F79"/>
            </a:solidFill>
            <a:tailEnd type="triangle" w="med" len="med"/>
          </a:ln>
        </p:spPr>
      </p:cxnSp>
      <p:cxnSp>
        <p:nvCxnSpPr>
          <p:cNvPr id="13" name="Flow connector"/>
          <p:cNvCxnSpPr/>
          <p:nvPr/>
        </p:nvCxnSpPr>
        <p:spPr>
          <a:xfrm>
            <a:off x="3630000" y="2736000"/>
            <a:ext cx="360000" cy="0"/>
          </a:xfrm>
          <a:prstGeom prst="line">
            <a:avLst/>
          </a:prstGeom>
          <a:ln w="15000">
            <a:solidFill>
              <a:srgbClr val="087F79"/>
            </a:solidFill>
            <a:tailEnd type="triangle" w="med" len="med"/>
          </a:ln>
        </p:spPr>
      </p:cxnSp>
      <p:sp>
        <p:nvSpPr>
          <p:cNvPr id="14" name="Module box"/>
          <p:cNvSpPr/>
          <p:nvPr/>
        </p:nvSpPr>
        <p:spPr>
          <a:xfrm>
            <a:off x="3990000" y="3672000"/>
            <a:ext cx="1320000" cy="540000"/>
          </a:xfrm>
          <a:prstGeom prst="roundRect">
            <a:avLst/>
          </a:prstGeom>
          <a:solidFill>
            <a:srgbClr val="F7F9FB"/>
          </a:solidFill>
          <a:ln w="12000">
            <a:solidFill>
              <a:srgbClr val="647080"/>
            </a:solidFill>
          </a:ln>
        </p:spPr>
      </p:sp>
      <p:sp>
        <p:nvSpPr>
          <p:cNvPr id="15" name="Module box"/>
          <p:cNvSpPr/>
          <p:nvPr/>
        </p:nvSpPr>
        <p:spPr>
          <a:xfrm>
            <a:off x="6060000" y="1230000"/>
            <a:ext cx="1740000" cy="1842000"/>
          </a:xfrm>
          <a:prstGeom prst="roundRect">
            <a:avLst/>
          </a:prstGeom>
          <a:solidFill>
            <a:srgbClr val="F4F0F8"/>
          </a:solidFill>
          <a:ln w="12000">
            <a:solidFill>
              <a:srgbClr val="6A5192"/>
            </a:solidFill>
          </a:ln>
        </p:spPr>
      </p:sp>
      <p:cxnSp>
        <p:nvCxnSpPr>
          <p:cNvPr id="16" name="Flow connector"/>
          <p:cNvCxnSpPr/>
          <p:nvPr/>
        </p:nvCxnSpPr>
        <p:spPr>
          <a:xfrm>
            <a:off x="5310000" y="1080000"/>
            <a:ext cx="372000" cy="0"/>
          </a:xfrm>
          <a:prstGeom prst="line">
            <a:avLst/>
          </a:prstGeom>
          <a:ln w="15000">
            <a:solidFill>
              <a:srgbClr val="2869AE"/>
            </a:solidFill>
          </a:ln>
        </p:spPr>
      </p:cxnSp>
      <p:cxnSp>
        <p:nvCxnSpPr>
          <p:cNvPr id="17" name="Flow connector"/>
          <p:cNvCxnSpPr/>
          <p:nvPr/>
        </p:nvCxnSpPr>
        <p:spPr>
          <a:xfrm>
            <a:off x="5682000" y="1080000"/>
            <a:ext cx="0" cy="600000"/>
          </a:xfrm>
          <a:prstGeom prst="line">
            <a:avLst/>
          </a:prstGeom>
          <a:ln w="15000">
            <a:solidFill>
              <a:srgbClr val="2869AE"/>
            </a:solidFill>
          </a:ln>
        </p:spPr>
      </p:cxnSp>
      <p:cxnSp>
        <p:nvCxnSpPr>
          <p:cNvPr id="18" name="Flow connector"/>
          <p:cNvCxnSpPr/>
          <p:nvPr/>
        </p:nvCxnSpPr>
        <p:spPr>
          <a:xfrm>
            <a:off x="5682000" y="1680000"/>
            <a:ext cx="378000" cy="0"/>
          </a:xfrm>
          <a:prstGeom prst="line">
            <a:avLst/>
          </a:prstGeom>
          <a:ln w="15000">
            <a:solidFill>
              <a:srgbClr val="2869AE"/>
            </a:solidFill>
            <a:tailEnd type="triangle" w="med" len="med"/>
          </a:ln>
        </p:spPr>
      </p:cxnSp>
      <p:cxnSp>
        <p:nvCxnSpPr>
          <p:cNvPr id="19" name="Flow connector"/>
          <p:cNvCxnSpPr/>
          <p:nvPr/>
        </p:nvCxnSpPr>
        <p:spPr>
          <a:xfrm>
            <a:off x="5310000" y="2736000"/>
            <a:ext cx="372000" cy="0"/>
          </a:xfrm>
          <a:prstGeom prst="line">
            <a:avLst/>
          </a:prstGeom>
          <a:ln w="15000">
            <a:solidFill>
              <a:srgbClr val="087F79"/>
            </a:solidFill>
          </a:ln>
        </p:spPr>
      </p:cxnSp>
      <p:cxnSp>
        <p:nvCxnSpPr>
          <p:cNvPr id="20" name="Flow connector"/>
          <p:cNvCxnSpPr/>
          <p:nvPr/>
        </p:nvCxnSpPr>
        <p:spPr>
          <a:xfrm flipV="1">
            <a:off x="5682000" y="2472000"/>
            <a:ext cx="0" cy="264000"/>
          </a:xfrm>
          <a:prstGeom prst="line">
            <a:avLst/>
          </a:prstGeom>
          <a:ln w="15000">
            <a:solidFill>
              <a:srgbClr val="087F79"/>
            </a:solidFill>
          </a:ln>
        </p:spPr>
      </p:cxnSp>
      <p:cxnSp>
        <p:nvCxnSpPr>
          <p:cNvPr id="21" name="Flow connector"/>
          <p:cNvCxnSpPr/>
          <p:nvPr/>
        </p:nvCxnSpPr>
        <p:spPr>
          <a:xfrm>
            <a:off x="5682000" y="2472000"/>
            <a:ext cx="378000" cy="0"/>
          </a:xfrm>
          <a:prstGeom prst="line">
            <a:avLst/>
          </a:prstGeom>
          <a:ln w="15000">
            <a:solidFill>
              <a:srgbClr val="087F79"/>
            </a:solidFill>
            <a:tailEnd type="triangle" w="med" len="med"/>
          </a:ln>
        </p:spPr>
      </p:cxnSp>
      <p:cxnSp>
        <p:nvCxnSpPr>
          <p:cNvPr id="22" name="Flow connector"/>
          <p:cNvCxnSpPr/>
          <p:nvPr/>
        </p:nvCxnSpPr>
        <p:spPr>
          <a:xfrm>
            <a:off x="5310000" y="3942000"/>
            <a:ext cx="540000" cy="0"/>
          </a:xfrm>
          <a:prstGeom prst="line">
            <a:avLst/>
          </a:prstGeom>
          <a:ln w="15000">
            <a:solidFill>
              <a:srgbClr val="647080"/>
            </a:solidFill>
          </a:ln>
        </p:spPr>
      </p:cxnSp>
      <p:cxnSp>
        <p:nvCxnSpPr>
          <p:cNvPr id="23" name="Flow connector"/>
          <p:cNvCxnSpPr/>
          <p:nvPr/>
        </p:nvCxnSpPr>
        <p:spPr>
          <a:xfrm flipV="1">
            <a:off x="5850000" y="2904000"/>
            <a:ext cx="0" cy="1038000"/>
          </a:xfrm>
          <a:prstGeom prst="line">
            <a:avLst/>
          </a:prstGeom>
          <a:ln w="15000">
            <a:solidFill>
              <a:srgbClr val="647080"/>
            </a:solidFill>
          </a:ln>
        </p:spPr>
      </p:cxnSp>
      <p:cxnSp>
        <p:nvCxnSpPr>
          <p:cNvPr id="24" name="Flow connector"/>
          <p:cNvCxnSpPr/>
          <p:nvPr/>
        </p:nvCxnSpPr>
        <p:spPr>
          <a:xfrm>
            <a:off x="5850000" y="2904000"/>
            <a:ext cx="210000" cy="0"/>
          </a:xfrm>
          <a:prstGeom prst="line">
            <a:avLst/>
          </a:prstGeom>
          <a:ln w="15000">
            <a:solidFill>
              <a:srgbClr val="647080"/>
            </a:solidFill>
            <a:tailEnd type="triangle" w="med" len="med"/>
          </a:ln>
        </p:spPr>
      </p:cxnSp>
      <p:sp>
        <p:nvSpPr>
          <p:cNvPr id="25" name="Module box"/>
          <p:cNvSpPr/>
          <p:nvPr/>
        </p:nvSpPr>
        <p:spPr>
          <a:xfrm>
            <a:off x="8400000" y="1794000"/>
            <a:ext cx="2220000" cy="708000"/>
          </a:xfrm>
          <a:prstGeom prst="roundRect">
            <a:avLst/>
          </a:prstGeom>
          <a:solidFill>
            <a:srgbClr val="FCF6EB"/>
          </a:solidFill>
          <a:ln w="12000">
            <a:solidFill>
              <a:srgbClr val="A86D22"/>
            </a:solidFill>
          </a:ln>
        </p:spPr>
      </p:sp>
      <p:cxnSp>
        <p:nvCxnSpPr>
          <p:cNvPr id="26" name="Flow connector"/>
          <p:cNvCxnSpPr/>
          <p:nvPr/>
        </p:nvCxnSpPr>
        <p:spPr>
          <a:xfrm>
            <a:off x="7800000" y="2148000"/>
            <a:ext cx="600000" cy="0"/>
          </a:xfrm>
          <a:prstGeom prst="line">
            <a:avLst/>
          </a:prstGeom>
          <a:ln w="15000">
            <a:solidFill>
              <a:srgbClr val="6A5192"/>
            </a:solidFill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PACT system diagram</dc:title>
  <dc:subject/>
  <dc:creator/>
  <ns0:keywords/>
  <dc:description>Code-aligned overview and readout architecture. Native editable shapes, arrows, and labels.</dc:description>
  <ns0:lastModifiedBy>Steve Canny</ns0:lastModifiedBy>
  <ns0:revision>1</ns0:revision>
  <ns2:created xsi:type="dcterms:W3CDTF">2013-01-27T09:14:16Z</ns2:created>
  <ns2:modified xsi:type="dcterms:W3CDTF">2013-01-27T09:15:58Z</ns2:modified>
  <ns0:category/>
</ns0:coreProperties>
</file>